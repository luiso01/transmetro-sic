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cab56e1e-e529-8942-1f19-aaac6254b88b}">
          <p14:sldIdLst>
            <p14:sldId id="256"/>
          </p14:sldIdLst>
        </p14:section>
        <p14:section name="El problema y la solución" id="{c3f135dc-ab77-39a1-587e-3a2dd82a3bb0}">
          <p14:sldIdLst>
            <p14:sldId id="257"/>
            <p14:sldId id="258"/>
          </p14:sldIdLst>
        </p14:section>
        <p14:section name="Lo construido" id="{6eeb8405-9400-1308-5fe7-20ca540e7803}">
          <p14:sldIdLst>
            <p14:sldId id="259"/>
            <p14:sldId id="260"/>
            <p14:sldId id="261"/>
          </p14:sldIdLst>
        </p14:section>
        <p14:section name="Calidad y avance" id="{2b138c18-3f80-551b-59ea-520444b78f3a}">
          <p14:sldIdLst>
            <p14:sldId id="262"/>
            <p14:sldId id="263"/>
            <p14:sldId id="264"/>
          </p14:sldIdLst>
        </p14:section>
        <p14:section name="Cierre" id="{d9c1d1fd-cca8-3432-dfb4-25b70f16ba15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2545"/>
                </a:solidFill>
                <a:latin typeface="+mn-lt"/>
              </a:rPr>
              <a:t>Los 16 requerimientos funcionales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Requerimientos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6EA4"/>
              </a:solidFill>
              <a:effectLst/>
            </c:spPr>
          </c:dPt>
          <c:dPt>
            <c:idx val="1"/>
            <c:bubble3D val="0"/>
            <c:spPr>
              <a:solidFill>
                <a:srgbClr val="E8A33D"/>
              </a:solidFill>
              <a:effectLst/>
            </c:spPr>
          </c:dPt>
          <c:dPt>
            <c:idx val="2"/>
            <c:bubble3D val="0"/>
            <c:spPr>
              <a:solidFill>
                <a:srgbClr val="5C7A99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Implementados y verificados</c:v>
                </c:pt>
                <c:pt idx="1">
                  <c:v>Modelados, sin interfaz</c:v>
                </c:pt>
                <c:pt idx="2">
                  <c:v>Pendientes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12</c:v>
                </c:pt>
                <c:pt idx="1">
                  <c:v>3</c:v>
                </c:pt>
                <c:pt idx="2">
                  <c:v>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74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2545"/>
                </a:solidFill>
                <a:latin typeface="+mn-lt"/>
              </a:rPr>
              <a:t>Tamaño del sistema en las dos mediciones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 de octubre</c:v>
                </c:pt>
              </c:strCache>
            </c:strRef>
          </c:tx>
          <c:spPr>
            <a:solidFill>
              <a:srgbClr val="5C7A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74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Módulos</c:v>
                  </c:pt>
                  <c:pt idx="1">
                    <c:v>Pantallas</c:v>
                  </c:pt>
                  <c:pt idx="2">
                    <c:v>Tablas</c:v>
                  </c:pt>
                  <c:pt idx="3">
                    <c:v>Puntos de acceso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11</c:v>
                </c:pt>
                <c:pt idx="2">
                  <c:v>32</c:v>
                </c:pt>
                <c:pt idx="3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23 de octubre</c:v>
                </c:pt>
              </c:strCache>
            </c:strRef>
          </c:tx>
          <c:spPr>
            <a:solidFill>
              <a:srgbClr val="1C6E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74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Módulos</c:v>
                  </c:pt>
                  <c:pt idx="1">
                    <c:v>Pantallas</c:v>
                  </c:pt>
                  <c:pt idx="2">
                    <c:v>Tablas</c:v>
                  </c:pt>
                  <c:pt idx="3">
                    <c:v>Puntos de acceso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</c:v>
                </c:pt>
                <c:pt idx="1">
                  <c:v>15</c:v>
                </c:pt>
                <c:pt idx="2">
                  <c:v>33</c:v>
                </c:pt>
                <c:pt idx="3">
                  <c:v>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B374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74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A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889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74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cierre del proyecto. El sistema está construido y en ejecución: 12 de 16 requerimientos funcionales, con las reglas de negocio garantizadas por la base de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cuatro de las nueve situaciones levantadas. Las nueve están en la Parte I del documento unificado.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decisión de arquitectura de mayor impacto y la que sostiene el argumento de calidad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cifras provienen de la Parte II del documento unificado, sección de métricas de producto.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capas se despliegan por separado, lo cual cumple el requerimiento no funcional de capas desacopladas.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módulos de administración técnica, pagos y reportería no tienen pantalla todavía, aunque su modelo de datos ya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RF-16 funciona de forma transversal en la base y registra cada cambio; lo que falta es la pantalla de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última cifra se presenta deliberadamente: el código creció 29 % y las pruebas automatizadas siguen en nueve.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contraste entre las dos tarjetas es el mensaje de la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Decir con precisión lo que falta es parte del aseguramiento de la calidad: un pendiente conocido no es un riesgo, un pendiente oculto sí.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no es casual: primero se asegura lo construido y después se construye lo que falta.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El repositorio es público y los enlaces también están en la primera sección del documento unificado.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291840"/>
            <a:ext cx="1051560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35508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95A8"/>
                </a:solidFill>
              </a:rPr>
              <a:t>SIC Transmetro · Resumen ejecutivo · Luis Orozco, carné 3590 22 5339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795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O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35508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3AD"/>
                </a:solidFill>
              </a:rPr>
              <a:t>SIC Transmetro · Resumen ejecutivo · Luis Orozco, carné 3590 22 5339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93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795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123A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06240"/>
            <a:ext cx="3108960" cy="3108960"/>
          </a:xfrm>
          <a:prstGeom prst="ellipse">
            <a:avLst/>
          </a:prstGeom>
          <a:solidFill>
            <a:srgbClr val="0F31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B2D9"/>
                </a:solidFill>
              </a:rPr>
              <a:t>PROYECTO FINAL · ASEGURAMIENTO DE LA CALIDAD DEL SOFTWARE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SIC Transmetro</a:t>
            </a:r>
            <a:endParaRPr lang="en-US" sz="44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291840"/>
            <a:ext cx="10515600" cy="23774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rgbClr val="CBDCEC"/>
                </a:solidFill>
              </a:rPr>
              <a:t>Sistema de Información y Control del Transmetro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9FBAD2"/>
                </a:solidFill>
              </a:rPr>
              <a:t>Resumen ejecutivo del proyecto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Luis Orozco · Carné 3590 22 5339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9FBAD2"/>
                </a:solidFill>
              </a:rPr>
              <a:t>Universidad Mariano Gálvez de Guatemala · Facultad de Ingeniería en Sistemas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9FBAD2"/>
                </a:solidFill>
              </a:rPr>
              <a:t>23 de octubre de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problema que resuelve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D"/>
                </a:solidFill>
              </a:rPr>
              <a:t>La información del Transmetro vive dispersa entre municipalidades y operadores, y las reglas de operación se verifican a ojo.</a:t>
            </a:r>
            <a:endParaRPr lang="en-US" sz="1400" dirty="0"/>
          </a:p>
        </p:txBody>
      </p:sp>
      <p:sp>
        <p:nvSpPr>
          <p:cNvPr id="4" name="problema-1"/>
          <p:cNvSpPr/>
          <p:nvPr/>
        </p:nvSpPr>
        <p:spPr>
          <a:xfrm>
            <a:off x="548640" y="1691640"/>
            <a:ext cx="544068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2938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929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911096"/>
            <a:ext cx="4379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Catálogos separados por municipalidad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04872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C4A5A"/>
                </a:solidFill>
              </a:rPr>
              <a:t>El mismo dato existe en varias versiones y ninguna es la oficial.</a:t>
            </a:r>
            <a:endParaRPr lang="en-US" sz="1250" dirty="0"/>
          </a:p>
        </p:txBody>
      </p:sp>
      <p:sp>
        <p:nvSpPr>
          <p:cNvPr id="9" name="problema-2"/>
          <p:cNvSpPr/>
          <p:nvPr/>
        </p:nvSpPr>
        <p:spPr>
          <a:xfrm>
            <a:off x="6263640" y="1691640"/>
            <a:ext cx="544068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9672" y="192938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1929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68312" y="1911096"/>
            <a:ext cx="4379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Asignación de unidades en hojas de cálculo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404872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C4A5A"/>
                </a:solidFill>
              </a:rPr>
              <a:t>Una unidad puede quedar contada en dos líneas, o en ninguna.</a:t>
            </a:r>
            <a:endParaRPr lang="en-US" sz="1250" dirty="0"/>
          </a:p>
        </p:txBody>
      </p:sp>
      <p:sp>
        <p:nvSpPr>
          <p:cNvPr id="14" name="problema-3"/>
          <p:cNvSpPr/>
          <p:nvPr/>
        </p:nvSpPr>
        <p:spPr>
          <a:xfrm>
            <a:off x="548640" y="3657600"/>
            <a:ext cx="544068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895344"/>
            <a:ext cx="420624" cy="42062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3895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3877056"/>
            <a:ext cx="4379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Reglas de operación verificadas a ojo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370832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C4A5A"/>
                </a:solidFill>
              </a:rPr>
              <a:t>La espera de cinco minutos y el sobrecupo quedan al criterio del momento.</a:t>
            </a:r>
            <a:endParaRPr lang="en-US" sz="1250" dirty="0"/>
          </a:p>
        </p:txBody>
      </p:sp>
      <p:sp>
        <p:nvSpPr>
          <p:cNvPr id="19" name="problema-4"/>
          <p:cNvSpPr/>
          <p:nvPr/>
        </p:nvSpPr>
        <p:spPr>
          <a:xfrm>
            <a:off x="6263640" y="3657600"/>
            <a:ext cx="544068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3895344"/>
            <a:ext cx="420624" cy="42062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9672" y="3895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68312" y="3877056"/>
            <a:ext cx="4379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Sin registro de quién cambió qué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4370832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C4A5A"/>
                </a:solidFill>
              </a:rPr>
              <a:t>Ante un error no hay forma de reconstruir el hecho ni de fincar responsabilidad.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D"/>
                </a:solidFill>
              </a:rPr>
              <a:t>Son cuatro de las nueve situaciones levantadas en la operación actual. Las nueve, con su consecuencia, están en la Parte I del documento del proyecto.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795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La decisión que define el proyecto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</a:rPr>
              <a:t>Las reglas de negocio no viven en el código.
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3D4E5"/>
                </a:solidFill>
              </a:rPr>
              <a:t>Viven dentro de PostgreSQL. Ningún cliente puede saltárselas: ni la aplicación web, ni un guion de carga, ni una consulta manual. La aplicación traduce el error a un mensaje claro, pero la garantía está en el motor.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749040"/>
            <a:ext cx="4480560" cy="1371600"/>
          </a:xfrm>
          <a:prstGeom prst="roundRect">
            <a:avLst>
              <a:gd name="adj" fmla="val 5333"/>
            </a:avLst>
          </a:prstGeom>
          <a:solidFill>
            <a:srgbClr val="123A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393192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C978"/>
                </a:solidFill>
              </a:rPr>
              <a:t>7 de 7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C3D4E5"/>
                </a:solidFill>
              </a:rPr>
              <a:t>reglas duras garantizadas por el motor y probadas con datos inválidos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1234440"/>
          <a:ext cx="6217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4747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Requerimiento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en la base de datos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RF-04 Una unidad en una sola línea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USING gist sobre unidad y periodo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RF-06 Ninguna unidad sin parqueo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 restricciones EXCLUDE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RF-09 Sobrecupo al 150 %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Columnas GENERATED y disparador de alerta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RF-10 Espera de cinco minutos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Restricción CHECK sobre el viaje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RF-05 Rango de unidades por línea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Disparador que abre y cierra la alerta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RF-08 Cobertura mínima de guardias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Disparador contra el mínimo del acceso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RF-16 Bitácora de auditoría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Disparador genérico sobre 14 tablas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394960" y="46634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AD2"/>
                </a:solidFill>
              </a:rPr>
              <a:t>Cada una se probó con datos inválidos y el motor los rechazó: son los casos CP-01 a CP-10 del plan de pruebas.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93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sistema en cifras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D"/>
                </a:solidFill>
              </a:rPr>
              <a:t>Medido el 23 de octubre de 2026 por consulta al catálogo de PostgreSQL y conteo sobre el repositorio.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3794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12 de 16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7802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Requerimientos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34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899"/>
                </a:solidFill>
              </a:rPr>
              <a:t>implementados, 75 %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62272" y="1691640"/>
            <a:ext cx="36118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45152" y="183794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99432" y="247802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Módulos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2734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899"/>
                </a:solidFill>
              </a:rPr>
              <a:t>con interfaz de usuario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375904" y="1691640"/>
            <a:ext cx="36118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58784" y="183794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75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513064" y="247802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Puntos de acceso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513064" y="2734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899"/>
                </a:solidFill>
              </a:rPr>
              <a:t>en la interfaz REST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36118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352958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33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16966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Tablas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42569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899"/>
                </a:solidFill>
              </a:rPr>
              <a:t>12 vistas, 29 disparadores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62272" y="3383280"/>
            <a:ext cx="36118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645152" y="352958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5"/>
                </a:solidFill>
              </a:rPr>
              <a:t>80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416966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Restricciones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99432" y="442569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899"/>
                </a:solidFill>
              </a:rPr>
              <a:t>de integridad, 2.4 por tabla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375904" y="3383280"/>
            <a:ext cx="36118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558784" y="352958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5"/>
                </a:solidFill>
              </a:rPr>
              <a:t>40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8513064" y="416966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Casos de prueba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513064" y="442569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899"/>
                </a:solidFill>
              </a:rPr>
              <a:t>ejecutados, todos conformes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7D"/>
                </a:solidFill>
              </a:rPr>
              <a:t>12,941 líneas de código en 113 archivos · 15 pantallas · 6 defectos registrados, ninguno abierto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795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Arquitectura en tres capas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D"/>
                </a:solidFill>
              </a:rPr>
              <a:t>Un solo lenguaje de aplicación, JavaScript, en el navegador y en el servidor. Todo el stack es de código abierto.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92808"/>
            <a:ext cx="2286000" cy="768096"/>
          </a:xfrm>
          <a:prstGeom prst="roundRect">
            <a:avLst>
              <a:gd name="adj" fmla="val 7143"/>
            </a:avLst>
          </a:prstGeom>
          <a:solidFill>
            <a:schemeClr val="accent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92808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Presentación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React 18 · Vite 6 · React Router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240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A5A"/>
                </a:solidFill>
              </a:rPr>
              <a:t>15 pantallas, menú armado con la matriz de permisos. Mapa de la red y gráficas en SVG propio, sin servicios externos.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1064240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264408"/>
            <a:ext cx="2286000" cy="768096"/>
          </a:xfrm>
          <a:prstGeom prst="roundRect">
            <a:avLst>
              <a:gd name="adj" fmla="val 7143"/>
            </a:avLst>
          </a:prstGeom>
          <a:solidFill>
            <a:schemeClr val="accent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264408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Aplicación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246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Node.js 20 · Express 4 · pg · zod · JWT · bcrypt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3611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A5A"/>
                </a:solidFill>
              </a:rPr>
              <a:t>12 módulos y 75 puntos de acceso. Valida, autoriza y traduce los errores del motor a mensajes de negocio.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434840"/>
            <a:ext cx="11064240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636008"/>
            <a:ext cx="2286000" cy="768096"/>
          </a:xfrm>
          <a:prstGeom prst="roundRect">
            <a:avLst>
              <a:gd name="adj" fmla="val 7143"/>
            </a:avLst>
          </a:prstGeom>
          <a:solidFill>
            <a:schemeClr val="accent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636008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Datos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4617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PostgreSQL 14+ · PL/pgSQL · btree_gist · citext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A5A"/>
                </a:solidFill>
              </a:rPr>
              <a:t>33 tablas, 12 vistas, 15 funciones y 29 disparadores. Aquí viven las reglas de negocio.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7D"/>
                </a:solidFill>
              </a:rPr>
              <a:t>HTTPS / JSON entre presentación y aplicación · protocolo PostgreSQL con TLS entre aplicación y datos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795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Los doce módulos construidos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D"/>
                </a:solidFill>
              </a:rPr>
              <a:t>Cada rol ve solo los suyos: el menú se arma con la matriz de permisos y con el ámbito de datos del usuario.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956816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18196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Autenticación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1671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899"/>
                </a:solidFill>
              </a:rPr>
              <a:t>RF-15, RF-16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10712" y="1691640"/>
            <a:ext cx="26517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11880" y="195681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96512" y="18196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Tablero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21671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899"/>
                </a:solidFill>
              </a:rPr>
              <a:t>RF-02, RF-05, RF-09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72784" y="1691640"/>
            <a:ext cx="26517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73952" y="1956816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58584" y="18196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Monitoreo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958584" y="21671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899"/>
                </a:solidFill>
              </a:rPr>
              <a:t>RF-09, RF-10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34856" y="1691640"/>
            <a:ext cx="26517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336024" y="1956816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20656" y="18196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Personal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820656" y="21671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899"/>
                </a:solidFill>
              </a:rPr>
              <a:t>RF-07, RF-08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2788920"/>
            <a:ext cx="26517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3054096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29169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Mi expediente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2644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899"/>
                </a:solidFill>
              </a:rPr>
              <a:t>RF-07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10712" y="2788920"/>
            <a:ext cx="26517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11880" y="3054096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96512" y="29169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Mi cobertura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096512" y="32644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899"/>
                </a:solidFill>
              </a:rPr>
              <a:t>RF-08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72784" y="2788920"/>
            <a:ext cx="26517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73952" y="305409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58584" y="29169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Líneas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958584" y="32644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899"/>
                </a:solidFill>
              </a:rPr>
              <a:t>RF-01, RF-02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134856" y="2788920"/>
            <a:ext cx="26517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336024" y="305409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20656" y="29169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Estaciones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820656" y="32644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899"/>
                </a:solidFill>
              </a:rPr>
              <a:t>RF-01, RF-03, RF-13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" y="3886200"/>
            <a:ext cx="26517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49808" y="415137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234440" y="40142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Flota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1234440" y="4361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899"/>
                </a:solidFill>
              </a:rPr>
              <a:t>RF-04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410712" y="3886200"/>
            <a:ext cx="26517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611880" y="415137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096512" y="40142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Parqueos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4096512" y="4361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899"/>
                </a:solidFill>
              </a:rPr>
              <a:t>RF-06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72784" y="3886200"/>
            <a:ext cx="26517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473952" y="4151376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958584" y="40142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Alertas</a:t>
            </a:r>
            <a:endParaRPr lang="en-US" sz="1350" dirty="0"/>
          </a:p>
        </p:txBody>
      </p:sp>
      <p:sp>
        <p:nvSpPr>
          <p:cNvPr id="47" name="Text 45"/>
          <p:cNvSpPr txBox="1"/>
          <p:nvPr/>
        </p:nvSpPr>
        <p:spPr>
          <a:xfrm>
            <a:off x="6958584" y="4361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899"/>
                </a:solidFill>
              </a:rPr>
              <a:t>RF-05, RF-06, RF-08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9134856" y="3886200"/>
            <a:ext cx="26517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9336024" y="4151376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20656" y="40142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Usuarios</a:t>
            </a:r>
            <a:endParaRPr lang="en-US" sz="1350" dirty="0"/>
          </a:p>
        </p:txBody>
      </p:sp>
      <p:sp>
        <p:nvSpPr>
          <p:cNvPr id="51" name="Text 49"/>
          <p:cNvSpPr txBox="1"/>
          <p:nvPr/>
        </p:nvSpPr>
        <p:spPr>
          <a:xfrm>
            <a:off x="9820656" y="4361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899"/>
                </a:solidFill>
              </a:rPr>
              <a:t>RF-15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D"/>
                </a:solidFill>
              </a:rPr>
              <a:t>En ámbar, los cuatro módulos incorporados en octubre de 2026: monitoreo de capacidad, personal, mi expediente y mi cobertura.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795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Avance de los requerimientos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37360"/>
          <a:ext cx="52120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Requerimientos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Implementados y verificados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RF-01, RF-02, RF-03, RF-04, RF-05, RF-06, RF-07, RF-08, RF-09, RF-10, RF-13, RF-15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la base, sin interfaz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RF-11 técnica, RF-12 pagos, RF-16 bitácora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RF-14 reportería gerencial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0" y="4114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A"/>
                </a:solidFill>
              </a:rPr>
              <a:t>El avance pasó de 44 % a 75 % entre la medición del 2 de octubre y la del 23 de octubre de 2026.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795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se verificó la calidad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D"/>
                </a:solidFill>
              </a:rPr>
              <a:t>La estrategia prueba primero donde viven las reglas: la capa de datos. Un defecto hallado ahí cuesta una fracción de lo que cuesta en producción.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23774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 de prueba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verifica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Herramienta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Restricciones de base de datos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 las reglas duras rechacen datos inválidos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Guiones SQL sobre PGlite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de 7 conformes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Unitarias y de integración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Permisos, errores de negocio y validaciones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Vitest y Supertest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automatizadas, en verde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Interfaz de usuario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Flujos por rol: ingreso, acción permitida y denegada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Guion manual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casos ejecutados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usuarios concurrentes, percentil 95 bajo 3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5196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39826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03834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Casos ejecutados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294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899"/>
                </a:solidFill>
              </a:rPr>
              <a:t>CP-01 a CP-40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502152" y="425196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685032" y="439826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6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3639312" y="503834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Defectos registrados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639312" y="5294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899"/>
                </a:solidFill>
              </a:rPr>
              <a:t>ninguno abierto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55664" y="425196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638544" y="439826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0.46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6592824" y="503834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Defectos por millar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592824" y="5294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899"/>
                </a:solidFill>
              </a:rPr>
              <a:t>meta: menos de 5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9409176" y="425196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592056" y="439826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9</a:t>
            </a:r>
            <a:endParaRPr lang="en-US" sz="4000" dirty="0"/>
          </a:p>
        </p:txBody>
      </p:sp>
      <p:sp>
        <p:nvSpPr>
          <p:cNvPr id="19" name="Text 16"/>
          <p:cNvSpPr txBox="1"/>
          <p:nvPr/>
        </p:nvSpPr>
        <p:spPr>
          <a:xfrm>
            <a:off x="9546336" y="503834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Pruebas automatizadas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546336" y="5294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899"/>
                </a:solidFill>
              </a:rPr>
              <a:t>la métrica en rojo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795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Lo que creció entre las dos mediciones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nota-dependencias"/>
          <p:cNvSpPr/>
          <p:nvPr/>
        </p:nvSpPr>
        <p:spPr>
          <a:xfrm>
            <a:off x="7772400" y="1463040"/>
            <a:ext cx="384048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28432" y="1700784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28432" y="1700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+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77072" y="1682496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Sin dependencias nuevas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217627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C4A5A"/>
                </a:solidFill>
              </a:rPr>
              <a:t>Los cuatro módulos, el mapa de la red y las tres gráficas se construyeron sin agregar una sola biblioteca al stack.</a:t>
            </a:r>
            <a:endParaRPr lang="en-US" sz="1250" dirty="0"/>
          </a:p>
        </p:txBody>
      </p:sp>
      <p:sp>
        <p:nvSpPr>
          <p:cNvPr id="9" name="nota-pruebas"/>
          <p:cNvSpPr/>
          <p:nvPr/>
        </p:nvSpPr>
        <p:spPr>
          <a:xfrm>
            <a:off x="7772400" y="3474720"/>
            <a:ext cx="384048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28432" y="3712464"/>
            <a:ext cx="420624" cy="42062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28432" y="3712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!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577072" y="3694176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 que no creció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4187952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C4A5A"/>
                </a:solidFill>
              </a:rPr>
              <a:t>El código aumentó 29 % y las pruebas automatizadas siguen en nueve. Los defectos DEF-05 y DEF-06 aparecieron por ese hueco.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795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Lo que falta, dicho con precisión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D"/>
                </a:solidFill>
              </a:rPr>
              <a:t>Nada de lo pendiente es un hallazgo de última hora: está identificado, acotado y con su modelo de datos ya construido.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92808"/>
            <a:ext cx="1005840" cy="512064"/>
          </a:xfrm>
          <a:prstGeom prst="roundRect">
            <a:avLst>
              <a:gd name="adj" fmla="val 10714"/>
            </a:avLst>
          </a:prstGeom>
          <a:solidFill>
            <a:schemeClr val="accent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92808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RF-11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181965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Administración técnica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21488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A5A"/>
                </a:solidFill>
              </a:rPr>
              <a:t>Tablas de equipo de cómputo y conectividad creadas y verificadas. Falta la pantalla y sus puntos de acceso.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971800"/>
            <a:ext cx="1005840" cy="512064"/>
          </a:xfrm>
          <a:prstGeom prst="roundRect">
            <a:avLst>
              <a:gd name="adj" fmla="val 10714"/>
            </a:avLst>
          </a:prstGeom>
          <a:solidFill>
            <a:schemeClr val="accent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7180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RF-12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289864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Conciliación de pagos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3227832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A5A"/>
                </a:solidFill>
              </a:rPr>
              <a:t>Tarjetas, transacciones y cuadre diario modelados, con la diferencia como columna generada. Falta la pantalla.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49624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050792"/>
            <a:ext cx="1005840" cy="512064"/>
          </a:xfrm>
          <a:prstGeom prst="roundRect">
            <a:avLst>
              <a:gd name="adj" fmla="val 10714"/>
            </a:avLst>
          </a:prstGeom>
          <a:solidFill>
            <a:schemeClr val="accent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05079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RF-14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39776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Reportería gerencial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4306824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A5A"/>
                </a:solidFill>
              </a:rPr>
              <a:t>Las vistas de consulta existen. Falta la exportación a PDF y Excel con marca de clasificación.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928616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129784"/>
            <a:ext cx="1005840" cy="512064"/>
          </a:xfrm>
          <a:prstGeom prst="roundRect">
            <a:avLst>
              <a:gd name="adj" fmla="val 10714"/>
            </a:avLst>
          </a:prstGeom>
          <a:solidFill>
            <a:schemeClr val="accent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129784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50566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Automatización de pruebas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965960" y="5385816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A5A"/>
                </a:solidFill>
              </a:rPr>
              <a:t>Los casos CP-27 a CP-40 se ejecutaron a mano. DEF-05 y DEF-06 aparecieron justo ahí: en caminos que ninguna prueba recorre sola.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795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Próximos pasos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658368" cy="65836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38988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Automatizar CP-27 a CP-40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79222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A"/>
                </a:solidFill>
              </a:rPr>
              <a:t>Llevar a Vitest y Supertest los casos de monitoreo, personal y los dos de regresión, para que se verifiquen en cada cambio y no dependan de la memoria de quien prueba.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658368" cy="65836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6517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57860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Medir cobertura y tiempo de respuesta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98094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A"/>
                </a:solidFill>
              </a:rPr>
              <a:t>Reporte de cobertura con la meta del 70 % y prueba de carga con k6 a 50 usuarios concurrentes.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840480"/>
            <a:ext cx="658368" cy="65836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8404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76732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Construir RF-11, RF-12 y RF-14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16966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A"/>
                </a:solidFill>
              </a:rPr>
              <a:t>Las pantallas de administración técnica, conciliación de pagos y reportería, sobre el modelo de datos ya existente.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9200"/>
            <a:ext cx="658368" cy="65836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50292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9560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Desplegar contra PostgreSQL administrado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535838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A"/>
                </a:solidFill>
              </a:rPr>
              <a:t>Subir DB_POOL_MAX a 10, habilitar respaldo diario y ejecutar la prueba de restauración con tiempo medido.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D"/>
                </a:solidFill>
              </a:rPr>
              <a:t>El primer paso es el que cierra la brecha de calidad señalada en la medición.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795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El proyecto, en una línea y un enlace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D4E5"/>
                </a:solidFill>
              </a:rPr>
              <a:t>Reglas que antes dependían de la mirada del personal, hoy convertidas en restricciones que el motor de base de datos no permite transgredir, con evidencia de cada cambio.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5577840" cy="1920240"/>
          </a:xfrm>
          <a:prstGeom prst="roundRect">
            <a:avLst>
              <a:gd name="adj" fmla="val 3810"/>
            </a:avLst>
          </a:prstGeom>
          <a:solidFill>
            <a:srgbClr val="123A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40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BAD2"/>
                </a:solidFill>
              </a:rPr>
              <a:t>Repositorio del proyecto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786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978"/>
                </a:solidFill>
              </a:rPr>
              <a:t>github.com/LuisO01/transmetro-sic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D4E5"/>
                </a:solidFill>
              </a:rPr>
              <a:t>Código, guiones SQL, diagramas editables y los entregables en PDF, incluido el documento unificado.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05740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23A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2402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BAD2"/>
                </a:solidFill>
              </a:rPr>
              <a:t>Se levanta sin instalar PostgreSQL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6060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db:local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dev   (03_frontend)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5478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D4E5"/>
                </a:solidFill>
              </a:rPr>
              <a:t>Luego http://localhost:5174 con el usuario admin.general.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43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AD2"/>
                </a:solidFill>
              </a:rPr>
              <a:t>Documento unificado del proyecto: SIC_Transmetro_Documento_Unificado.pdf · 93 páginas · Partes I a V y anexo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92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Gracias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93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 Transmetro">
  <a:themeElements>
    <a:clrScheme name="SIC Transmetro">
      <a:dk1>
        <a:srgbClr val="1A1A1A"/>
      </a:dk1>
      <a:lt1>
        <a:srgbClr val="FFFFFF"/>
      </a:lt1>
      <a:dk2>
        <a:srgbClr val="0B2545"/>
      </a:dk2>
      <a:lt2>
        <a:srgbClr val="EEF2F7"/>
      </a:lt2>
      <a:accent1>
        <a:srgbClr val="1C6EA4"/>
      </a:accent1>
      <a:accent2>
        <a:srgbClr val="17A398"/>
      </a:accent2>
      <a:accent3>
        <a:srgbClr val="E8A33D"/>
      </a:accent3>
      <a:accent4>
        <a:srgbClr val="C0392B"/>
      </a:accent4>
      <a:accent5>
        <a:srgbClr val="5C7A99"/>
      </a:accent5>
      <a:accent6>
        <a:srgbClr val="34495E"/>
      </a:accent6>
      <a:hlink>
        <a:srgbClr val="1C6EA4"/>
      </a:hlink>
      <a:folHlink>
        <a:srgbClr val="5C7A99"/>
      </a:folHlink>
    </a:clrScheme>
    <a:fontScheme name="SIC Transmetr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Universidad Mariano Galvez de Guatemala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 Transmetro</dc:title>
  <dc:subject>SIC Transmetro - Resumen ejecutivo</dc:subject>
  <dc:creator>Luis Orozco</dc:creator>
  <cp:lastModifiedBy>Luis Orozco</cp:lastModifiedBy>
  <cp:revision>1</cp:revision>
  <dcterms:created xsi:type="dcterms:W3CDTF">2026-10-24T01:30:46Z</dcterms:created>
  <dcterms:modified xsi:type="dcterms:W3CDTF">2026-10-24T01:30:46Z</dcterms:modified>
</cp:coreProperties>
</file>